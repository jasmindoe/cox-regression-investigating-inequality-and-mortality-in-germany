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73" r:id="rId5"/>
    <p:sldId id="259" r:id="rId6"/>
    <p:sldId id="263" r:id="rId7"/>
    <p:sldId id="262" r:id="rId8"/>
    <p:sldId id="271" r:id="rId9"/>
    <p:sldId id="261" r:id="rId10"/>
    <p:sldId id="269" r:id="rId11"/>
    <p:sldId id="270" r:id="rId12"/>
    <p:sldId id="272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B694C-2692-84D8-E064-61A7D7AD5292}" v="103" dt="2026-03-31T11:59:33.034"/>
    <p1510:client id="{AEA432E1-0B95-7BF3-5E94-953250E6EA55}" v="1910" dt="2026-03-31T12:34:54.047"/>
    <p1510:client id="{BB48245F-6483-E0E8-886F-1611BF39B075}" v="939" dt="2026-03-31T12:14:25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1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1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5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0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99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2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0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4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6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1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Socioeconomic Status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&amp;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Survival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endParaRPr lang="en-US" sz="1400"/>
          </a:p>
          <a:p>
            <a:pPr algn="l"/>
            <a:r>
              <a:rPr lang="en-US" sz="1400"/>
              <a:t>Jasmin </a:t>
            </a:r>
            <a:r>
              <a:rPr lang="en-US" sz="1400" err="1"/>
              <a:t>Dönicke</a:t>
            </a:r>
            <a:endParaRPr lang="en-US" sz="1400"/>
          </a:p>
          <a:p>
            <a:pPr algn="l"/>
            <a:r>
              <a:rPr lang="en-US" sz="1400"/>
              <a:t>Max Jaber</a:t>
            </a:r>
          </a:p>
          <a:p>
            <a:pPr algn="l"/>
            <a:r>
              <a:rPr lang="en-US" sz="1400"/>
              <a:t>Lisa Kannenberg</a:t>
            </a:r>
          </a:p>
          <a:p>
            <a:pPr algn="l"/>
            <a:r>
              <a:rPr lang="en-US" sz="1400"/>
              <a:t>Andrei </a:t>
            </a:r>
            <a:r>
              <a:rPr lang="en-US" sz="1400" err="1">
                <a:highlight>
                  <a:srgbClr val="FFFFFF"/>
                </a:highlight>
                <a:ea typeface="+mn-lt"/>
                <a:cs typeface="+mn-lt"/>
              </a:rPr>
              <a:t>Kachmazov</a:t>
            </a:r>
            <a:endParaRPr lang="en-US" sz="1400"/>
          </a:p>
        </p:txBody>
      </p:sp>
      <p:pic>
        <p:nvPicPr>
          <p:cNvPr id="4" name="Picture 3" descr="Free Money Piles Png, Download Free Money Piles Png png images, Free ...">
            <a:extLst>
              <a:ext uri="{FF2B5EF4-FFF2-40B4-BE49-F238E27FC236}">
                <a16:creationId xmlns:a16="http://schemas.microsoft.com/office/drawing/2014/main" id="{EFE5A148-5F98-2FFF-71F3-CE73317AD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980" y="1448504"/>
            <a:ext cx="7061197" cy="416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ideo Infographic : Rich vs Poor - How Do They Compare &amp; Who Is Living ...">
            <a:extLst>
              <a:ext uri="{FF2B5EF4-FFF2-40B4-BE49-F238E27FC236}">
                <a16:creationId xmlns:a16="http://schemas.microsoft.com/office/drawing/2014/main" id="{9841E0C5-EB32-B497-A974-34A947FC0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8" b="2"/>
          <a:stretch>
            <a:fillRect/>
          </a:stretch>
        </p:blipFill>
        <p:spPr>
          <a:xfrm>
            <a:off x="1155556" y="637761"/>
            <a:ext cx="9889765" cy="55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2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D0E21-8BF5-9CE0-6CB6-51D0A1582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05F408-C321-80A6-4F0E-42BB103E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4137B41C-3865-23BD-F987-D7617F36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F946EFA3-D67A-D1E5-C1EA-784A61864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E47E2-9E76-F87C-536D-8A92AF64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Research Area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E93B71-7B9A-E634-A574-4693EFE85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5" name="Content Placeholder 24" descr="A map of a cemetery&#10;&#10;AI-generated content may be incorrect.">
            <a:extLst>
              <a:ext uri="{FF2B5EF4-FFF2-40B4-BE49-F238E27FC236}">
                <a16:creationId xmlns:a16="http://schemas.microsoft.com/office/drawing/2014/main" id="{8FC0FE5F-E1BA-C15D-CF93-0335F48C2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929" y="2007435"/>
            <a:ext cx="6561438" cy="422798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146D3E-559D-39BF-298E-7EF72B85A882}"/>
              </a:ext>
            </a:extLst>
          </p:cNvPr>
          <p:cNvSpPr txBox="1"/>
          <p:nvPr/>
        </p:nvSpPr>
        <p:spPr>
          <a:xfrm>
            <a:off x="7678352" y="2776837"/>
            <a:ext cx="437017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Area of Grave Plots research highlighted in red</a:t>
            </a:r>
          </a:p>
          <a:p>
            <a:endParaRPr lang="en-US" sz="2800"/>
          </a:p>
          <a:p>
            <a:r>
              <a:rPr lang="en-US" sz="2800"/>
              <a:t>Area of Urn </a:t>
            </a:r>
            <a:r>
              <a:rPr lang="en-US" sz="2800" err="1"/>
              <a:t>Columbariums</a:t>
            </a:r>
            <a:r>
              <a:rPr lang="en-US" sz="2800"/>
              <a:t> research highlighted in blue</a:t>
            </a:r>
          </a:p>
        </p:txBody>
      </p:sp>
    </p:spTree>
    <p:extLst>
      <p:ext uri="{BB962C8B-B14F-4D97-AF65-F5344CB8AC3E}">
        <p14:creationId xmlns:p14="http://schemas.microsoft.com/office/powerpoint/2010/main" val="124531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DBC7A-4159-4A30-7932-BDB2C756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E355AC8-5201-CDCC-2BFA-612B4548F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53078403-9C9C-6130-2DFA-D059F30AD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31A16D9F-9514-9271-54F3-ED80AFDD1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28EB2-02A8-461F-D5C6-0E92854A2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Sample Size Calculation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7DA18E-ADAF-7A1E-6DA2-6BAA80D69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CECA947-15B0-B1CC-1619-F9E1F1F6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76" b="-1449"/>
          <a:stretch>
            <a:fillRect/>
          </a:stretch>
        </p:blipFill>
        <p:spPr>
          <a:xfrm>
            <a:off x="626485" y="2133600"/>
            <a:ext cx="3928469" cy="13071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27EBB0-7176-BF31-86D2-200B5750228E}"/>
              </a:ext>
            </a:extLst>
          </p:cNvPr>
          <p:cNvSpPr txBox="1"/>
          <p:nvPr/>
        </p:nvSpPr>
        <p:spPr>
          <a:xfrm>
            <a:off x="4824120" y="2287298"/>
            <a:ext cx="733266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/>
              <a:t>Number of events required in both groups</a:t>
            </a:r>
            <a:endParaRPr lang="en-US"/>
          </a:p>
        </p:txBody>
      </p:sp>
      <p:pic>
        <p:nvPicPr>
          <p:cNvPr id="11" name="Picture 10" descr="A black text with a black line&#10;&#10;AI-generated content may be incorrect.">
            <a:extLst>
              <a:ext uri="{FF2B5EF4-FFF2-40B4-BE49-F238E27FC236}">
                <a16:creationId xmlns:a16="http://schemas.microsoft.com/office/drawing/2014/main" id="{864709C1-ED0F-F11A-5E40-F010A2B09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8" b="-1010"/>
          <a:stretch>
            <a:fillRect/>
          </a:stretch>
        </p:blipFill>
        <p:spPr>
          <a:xfrm>
            <a:off x="628218" y="3671888"/>
            <a:ext cx="2179285" cy="13985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D60B08-2EC0-AC83-4F76-D35968BEA9A8}"/>
              </a:ext>
            </a:extLst>
          </p:cNvPr>
          <p:cNvSpPr txBox="1"/>
          <p:nvPr/>
        </p:nvSpPr>
        <p:spPr>
          <a:xfrm>
            <a:off x="4824119" y="4019116"/>
            <a:ext cx="7138704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/>
              <a:t>Assuming a HR of 1.5, we need at least 128 people </a:t>
            </a:r>
            <a:r>
              <a:rPr lang="en-US" sz="2800"/>
              <a:t>in both groups </a:t>
            </a:r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US" sz="2800"/>
              <a:t>Resulting in a minimum sample of 256 total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124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125CD-B515-4CC0-0DC8-B8BABE3B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2F0C8-9CFB-B5B4-4156-FE5BF9BE0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Descriptive Analysis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D3E527-F56D-2EE7-7F7B-08A9A18F3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7182" y="149731"/>
            <a:ext cx="6881379" cy="65809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3D24E0-18A4-0B8E-D955-A30D9922AE1D}"/>
              </a:ext>
            </a:extLst>
          </p:cNvPr>
          <p:cNvSpPr txBox="1"/>
          <p:nvPr/>
        </p:nvSpPr>
        <p:spPr>
          <a:xfrm>
            <a:off x="772328" y="4124548"/>
            <a:ext cx="26823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Mean &amp; SD</a:t>
            </a:r>
          </a:p>
        </p:txBody>
      </p:sp>
    </p:spTree>
    <p:extLst>
      <p:ext uri="{BB962C8B-B14F-4D97-AF65-F5344CB8AC3E}">
        <p14:creationId xmlns:p14="http://schemas.microsoft.com/office/powerpoint/2010/main" val="15779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64158-A8A1-01BC-7516-EEA2EA3F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B72DB69-6A18-D5B0-63AF-05AE4502F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A747B9-58CA-B846-B559-B542643FC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ABCF13-857B-5C5D-67B5-9AFC02936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3FBC0B-7BD6-8BB2-014D-A918DBE5D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07DFEE0-22EA-066A-0746-F23EF2839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69C96-87D5-0EE4-E939-61EAF0A7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Descriptive Analysis</a:t>
            </a:r>
          </a:p>
        </p:txBody>
      </p:sp>
      <p:pic>
        <p:nvPicPr>
          <p:cNvPr id="5" name="Content Placeholder 4" descr="A white table with numbers and text&#10;&#10;AI-generated content may be incorrect.">
            <a:extLst>
              <a:ext uri="{FF2B5EF4-FFF2-40B4-BE49-F238E27FC236}">
                <a16:creationId xmlns:a16="http://schemas.microsoft.com/office/drawing/2014/main" id="{0EFD478C-8EEF-6304-E01F-8BAB22AF6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849" t="569" r="1253"/>
          <a:stretch>
            <a:fillRect/>
          </a:stretch>
        </p:blipFill>
        <p:spPr>
          <a:xfrm>
            <a:off x="4077517" y="459817"/>
            <a:ext cx="8116947" cy="5953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E7D646-A6B8-BE7B-A3A6-9E14D77F2855}"/>
              </a:ext>
            </a:extLst>
          </p:cNvPr>
          <p:cNvSpPr txBox="1"/>
          <p:nvPr/>
        </p:nvSpPr>
        <p:spPr>
          <a:xfrm>
            <a:off x="772328" y="4124548"/>
            <a:ext cx="26823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Median &amp; IQR</a:t>
            </a:r>
          </a:p>
        </p:txBody>
      </p:sp>
    </p:spTree>
    <p:extLst>
      <p:ext uri="{BB962C8B-B14F-4D97-AF65-F5344CB8AC3E}">
        <p14:creationId xmlns:p14="http://schemas.microsoft.com/office/powerpoint/2010/main" val="2991860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A02C8-BD68-603B-DAA2-C9369DFA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CC66F-AFDC-01C7-A699-A2B8A8524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503870"/>
            <a:ext cx="2880828" cy="33351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Descriptive Analysis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 </a:t>
            </a:r>
            <a:r>
              <a:rPr lang="en-US" sz="1050">
                <a:solidFill>
                  <a:srgbClr val="FFFFFF"/>
                </a:solidFill>
              </a:rPr>
              <a:t>.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Age-Pyramid by Burial-Type</a:t>
            </a:r>
            <a:endParaRPr lang="en-US" sz="24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8" name="Picture 7" descr="A graph showing a number of individuals&#10;&#10;AI-generated content may be incorrect.">
            <a:extLst>
              <a:ext uri="{FF2B5EF4-FFF2-40B4-BE49-F238E27FC236}">
                <a16:creationId xmlns:a16="http://schemas.microsoft.com/office/drawing/2014/main" id="{99C944BD-04BF-65E3-D71A-70B74B7A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763" y="839067"/>
            <a:ext cx="8128290" cy="52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5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1E421-EE5C-6B2E-9AAF-DAE1E9F3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26C96D9-6330-689B-793F-2048129ED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90F34C66-8DC9-E12A-666A-360C7179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5129D127-29B1-E5C8-D45F-A5ED03C2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05B7F-3F04-06A2-A03A-70FA2E83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Inference Statistics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23700-43CE-B9E3-49B0-04FD94B4C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C3D71-B22F-6309-6201-3D49FB64A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3366655" cy="36941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Grave VS. Urn</a:t>
            </a:r>
          </a:p>
          <a:p>
            <a:r>
              <a:rPr lang="en-US" sz="2200">
                <a:ea typeface="+mn-lt"/>
                <a:cs typeface="+mn-lt"/>
              </a:rPr>
              <a:t>HR = 1.30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95% CI: 1.10 to 1.53 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p = 0.0026</a:t>
            </a:r>
            <a:endParaRPr lang="en-US"/>
          </a:p>
          <a:p>
            <a:endParaRPr lang="en-US" sz="2200"/>
          </a:p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Female VS. Male </a:t>
            </a:r>
          </a:p>
          <a:p>
            <a:r>
              <a:rPr lang="en-US" sz="2200">
                <a:ea typeface="+mn-lt"/>
                <a:cs typeface="+mn-lt"/>
              </a:rPr>
              <a:t>HR = 0.60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95% CI: 0.51 to 0.71 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p &lt; 0.001 </a:t>
            </a:r>
            <a:endParaRPr lang="en-US"/>
          </a:p>
          <a:p>
            <a:pPr marL="0" indent="0">
              <a:buNone/>
            </a:pPr>
            <a:endParaRPr lang="en-US" sz="2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8FBA7-B479-7F4F-FBC5-FFC50615FBEA}"/>
              </a:ext>
            </a:extLst>
          </p:cNvPr>
          <p:cNvSpPr txBox="1"/>
          <p:nvPr/>
        </p:nvSpPr>
        <p:spPr>
          <a:xfrm>
            <a:off x="4211782" y="2473036"/>
            <a:ext cx="7135090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300"/>
              <a:t>When controlling for sex, people with graves have a 30% higher hazard of death compared to urn burials. This means they die earlier on average.</a:t>
            </a:r>
            <a:endParaRPr lang="en-US"/>
          </a:p>
          <a:p>
            <a:endParaRPr lang="en-US" sz="2300"/>
          </a:p>
          <a:p>
            <a:endParaRPr lang="en-US" sz="2300"/>
          </a:p>
          <a:p>
            <a:endParaRPr lang="en-US" sz="2300"/>
          </a:p>
          <a:p>
            <a:r>
              <a:rPr lang="en-US" sz="2300"/>
              <a:t>Women have a 40% lower hazard of death than males.</a:t>
            </a:r>
            <a:br>
              <a:rPr lang="en-US" sz="2300"/>
            </a:br>
            <a:r>
              <a:rPr lang="en-US" sz="2300"/>
              <a:t>This means they live longer.</a:t>
            </a:r>
          </a:p>
          <a:p>
            <a:endParaRPr lang="en-US" sz="23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50D1B-E8A6-BEF9-11BD-55E108D3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8CE67E8-2A16-F298-EAEA-6EF8F802C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6B667833-F115-1A93-B49C-DA3BF25CF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908EDD05-94FF-7394-504D-F4C760327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E9855-3440-F1BB-2525-F78C04CC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/>
              <a:t>Birth Cohort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58E0DE-C3BF-CEA6-39E8-3D6F6071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57E16B-FAFD-AB09-1FB1-8D94AF51E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518632"/>
              </p:ext>
            </p:extLst>
          </p:nvPr>
        </p:nvGraphicFramePr>
        <p:xfrm>
          <a:off x="526473" y="4142508"/>
          <a:ext cx="10847911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499">
                  <a:extLst>
                    <a:ext uri="{9D8B030D-6E8A-4147-A177-3AD203B41FA5}">
                      <a16:colId xmlns:a16="http://schemas.microsoft.com/office/drawing/2014/main" val="1727704696"/>
                    </a:ext>
                  </a:extLst>
                </a:gridCol>
                <a:gridCol w="2790533">
                  <a:extLst>
                    <a:ext uri="{9D8B030D-6E8A-4147-A177-3AD203B41FA5}">
                      <a16:colId xmlns:a16="http://schemas.microsoft.com/office/drawing/2014/main" val="2051796681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2797882413"/>
                    </a:ext>
                  </a:extLst>
                </a:gridCol>
                <a:gridCol w="2389716">
                  <a:extLst>
                    <a:ext uri="{9D8B030D-6E8A-4147-A177-3AD203B41FA5}">
                      <a16:colId xmlns:a16="http://schemas.microsoft.com/office/drawing/2014/main" val="1902189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Birth 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HR (95% 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316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Before WW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1.33 (0.89, 1.98) 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0.16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2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Between WW I and WW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1.41 (1.14, 1.75)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0.002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351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154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/>
                        <a:t>After WW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1.09 (0.71, 1.66)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0.70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8268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42EDA-354F-70BD-3C67-663A7A7379AC}"/>
              </a:ext>
            </a:extLst>
          </p:cNvPr>
          <p:cNvSpPr txBox="1"/>
          <p:nvPr/>
        </p:nvSpPr>
        <p:spPr>
          <a:xfrm>
            <a:off x="526779" y="2217907"/>
            <a:ext cx="1118697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Urn burials show longer survival across cohorts, but differences are only significant in the inter-war birth group. No clear effect in pre-WWI or post-WWII cohorts, likely due to smaller sample sizes.</a:t>
            </a:r>
          </a:p>
        </p:txBody>
      </p:sp>
    </p:spTree>
    <p:extLst>
      <p:ext uri="{BB962C8B-B14F-4D97-AF65-F5344CB8AC3E}">
        <p14:creationId xmlns:p14="http://schemas.microsoft.com/office/powerpoint/2010/main" val="236498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477D0-A1CC-0372-C790-D0028E23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2DEDF-6351-1862-395C-5C458799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Survival Curve</a:t>
            </a:r>
          </a:p>
        </p:txBody>
      </p:sp>
      <p:pic>
        <p:nvPicPr>
          <p:cNvPr id="7" name="Picture 6" descr="A graph of a number of years&#10;&#10;AI-generated content may be incorrect.">
            <a:extLst>
              <a:ext uri="{FF2B5EF4-FFF2-40B4-BE49-F238E27FC236}">
                <a16:creationId xmlns:a16="http://schemas.microsoft.com/office/drawing/2014/main" id="{B4386BAA-B734-BB24-9006-C8CD572B9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10" y="241630"/>
            <a:ext cx="8057020" cy="57651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0681B8-3A72-4733-E9C2-E63BD5953146}"/>
              </a:ext>
            </a:extLst>
          </p:cNvPr>
          <p:cNvSpPr txBox="1"/>
          <p:nvPr/>
        </p:nvSpPr>
        <p:spPr>
          <a:xfrm>
            <a:off x="4442872" y="6196405"/>
            <a:ext cx="736094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Note: The survival curve is not adjusted for sex.</a:t>
            </a:r>
          </a:p>
        </p:txBody>
      </p:sp>
    </p:spTree>
    <p:extLst>
      <p:ext uri="{BB962C8B-B14F-4D97-AF65-F5344CB8AC3E}">
        <p14:creationId xmlns:p14="http://schemas.microsoft.com/office/powerpoint/2010/main" val="1583199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E8E5E-D5C1-2680-E6B2-8EB4FBF5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85033-6ADE-B774-43E0-8A829174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Survival Curve by Sex</a:t>
            </a:r>
          </a:p>
        </p:txBody>
      </p:sp>
      <p:pic>
        <p:nvPicPr>
          <p:cNvPr id="3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1F64F357-4CEF-7FE1-6C8D-A8768E23A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74" y="1190439"/>
            <a:ext cx="8314449" cy="5671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1E8A9D-6BFB-4DD5-75EF-B3AACA4A3F02}"/>
              </a:ext>
            </a:extLst>
          </p:cNvPr>
          <p:cNvSpPr txBox="1"/>
          <p:nvPr/>
        </p:nvSpPr>
        <p:spPr>
          <a:xfrm>
            <a:off x="9024433" y="2037775"/>
            <a:ext cx="237047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In Men</a:t>
            </a:r>
          </a:p>
          <a:p>
            <a:r>
              <a:rPr lang="en-US" sz="2800"/>
              <a:t>HR = 1.17 [0.92 - 1.49]</a:t>
            </a:r>
          </a:p>
          <a:p>
            <a:endParaRPr lang="en-US" sz="2800"/>
          </a:p>
          <a:p>
            <a:endParaRPr lang="en-US" sz="2800"/>
          </a:p>
          <a:p>
            <a:r>
              <a:rPr lang="en-US" sz="2800" b="1"/>
              <a:t>In Women</a:t>
            </a:r>
          </a:p>
          <a:p>
            <a:r>
              <a:rPr lang="en-US" sz="2800"/>
              <a:t>HR = 1.44 [1.13 - 1.82]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0D17E-97D7-316E-97EE-34956C7770A0}"/>
              </a:ext>
            </a:extLst>
          </p:cNvPr>
          <p:cNvSpPr txBox="1"/>
          <p:nvPr/>
        </p:nvSpPr>
        <p:spPr>
          <a:xfrm>
            <a:off x="2370543" y="1857595"/>
            <a:ext cx="135158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Male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AF339-A6B0-CA57-9453-9481BB5200DC}"/>
              </a:ext>
            </a:extLst>
          </p:cNvPr>
          <p:cNvSpPr txBox="1"/>
          <p:nvPr/>
        </p:nvSpPr>
        <p:spPr>
          <a:xfrm>
            <a:off x="6097415" y="1857595"/>
            <a:ext cx="1351585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Female</a:t>
            </a:r>
          </a:p>
        </p:txBody>
      </p:sp>
    </p:spTree>
    <p:extLst>
      <p:ext uri="{BB962C8B-B14F-4D97-AF65-F5344CB8AC3E}">
        <p14:creationId xmlns:p14="http://schemas.microsoft.com/office/powerpoint/2010/main" val="90416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43766-9DB0-52C8-A0A9-41A333E5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C31CEAE-DF85-AC21-4A96-3CEC2FB61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E80902-76DA-3A90-B66C-D7C52F5BE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747E1D-5815-7125-B852-4EC75BF87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0F7D6E-752D-14CB-DE59-4A3AE22ED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F9770-7411-670C-A34F-882EDBE5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Discussion</a:t>
            </a:r>
            <a:endParaRPr lang="en-US" sz="40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DCF16-1D6B-62A7-B41B-69FAD39AE326}"/>
              </a:ext>
            </a:extLst>
          </p:cNvPr>
          <p:cNvSpPr txBox="1"/>
          <p:nvPr/>
        </p:nvSpPr>
        <p:spPr>
          <a:xfrm>
            <a:off x="956506" y="2079362"/>
            <a:ext cx="1004332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/>
              <a:t>Finding: Burial in the urn columbarium is associated with longer overall survival than a burial in the grave plot</a:t>
            </a:r>
          </a:p>
          <a:p>
            <a:pPr marL="285750" indent="-285750">
              <a:buFont typeface="Arial"/>
              <a:buChar char="•"/>
            </a:pPr>
            <a:r>
              <a:rPr lang="en-US" sz="3200"/>
              <a:t>Interpretation: Cause unclear, could reflect cultural, religious, or cohort effects </a:t>
            </a:r>
          </a:p>
          <a:p>
            <a:endParaRPr lang="en-US" sz="3200"/>
          </a:p>
          <a:p>
            <a:pPr marL="285750" indent="-285750">
              <a:buFont typeface="Arial"/>
              <a:buChar char="•"/>
            </a:pPr>
            <a:r>
              <a:rPr lang="en-US" sz="3200" b="1"/>
              <a:t>Open question: What is your hypothesis, and what additional data would be needed to test it?</a:t>
            </a:r>
          </a:p>
          <a:p>
            <a:pPr marL="285750" indent="-285750">
              <a:buFont typeface="Arial"/>
              <a:buChar char="•"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014046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C72F0-79FC-CAD4-52D0-A1B652D3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DEBB69-FC80-E367-3A36-8D97E6149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DFFE37-0FB7-24EE-2A24-5E53F1428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28D586-AA0E-326E-C67C-8326A8223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8FDF3-58A4-75E1-A18D-4E6B70B2A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C6D465-967D-D19D-9F1D-502999326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8AFF18-ADFE-45C9-6794-03612E1A2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6FB58-D374-A300-9C70-59771896D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Socioeconomic Status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&amp;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Survival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61931-1068-DD5B-465E-4C1D9ED93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endParaRPr lang="en-US" sz="1400"/>
          </a:p>
          <a:p>
            <a:pPr algn="l"/>
            <a:r>
              <a:rPr lang="en-US" sz="1400"/>
              <a:t>Jasmin </a:t>
            </a:r>
            <a:r>
              <a:rPr lang="en-US" sz="1400" err="1"/>
              <a:t>Dönicke</a:t>
            </a:r>
            <a:endParaRPr lang="en-US" sz="1400"/>
          </a:p>
          <a:p>
            <a:pPr algn="l"/>
            <a:r>
              <a:rPr lang="en-US" sz="1400"/>
              <a:t>Max Jaber</a:t>
            </a:r>
          </a:p>
          <a:p>
            <a:pPr algn="l"/>
            <a:r>
              <a:rPr lang="en-US" sz="1400"/>
              <a:t>Lisa Kannenberg</a:t>
            </a:r>
          </a:p>
          <a:p>
            <a:pPr algn="l"/>
            <a:r>
              <a:rPr lang="en-US" sz="1400"/>
              <a:t>Andrei </a:t>
            </a:r>
            <a:r>
              <a:rPr lang="en-US" sz="1400" err="1">
                <a:highlight>
                  <a:srgbClr val="FFFFFF"/>
                </a:highlight>
                <a:ea typeface="+mn-lt"/>
                <a:cs typeface="+mn-lt"/>
              </a:rPr>
              <a:t>Kachmazov</a:t>
            </a:r>
            <a:endParaRPr lang="en-US" sz="1400"/>
          </a:p>
        </p:txBody>
      </p:sp>
      <p:pic>
        <p:nvPicPr>
          <p:cNvPr id="4" name="Picture 3" descr="Free Money Piles Png, Download Free Money Piles Png png images, Free ...">
            <a:extLst>
              <a:ext uri="{FF2B5EF4-FFF2-40B4-BE49-F238E27FC236}">
                <a16:creationId xmlns:a16="http://schemas.microsoft.com/office/drawing/2014/main" id="{391F67B3-EB3F-0743-D758-26EE33CBF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980" y="1448504"/>
            <a:ext cx="7061197" cy="416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89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358</Words>
  <Application>Microsoft Office PowerPoint</Application>
  <PresentationFormat>Breitbild</PresentationFormat>
  <Paragraphs>74</Paragraphs>
  <Slides>13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Socioeconomic Status  &amp;  Survival</vt:lpstr>
      <vt:lpstr>PowerPoint-Präsentation</vt:lpstr>
      <vt:lpstr>Research Area</vt:lpstr>
      <vt:lpstr>Sample Size Calculation</vt:lpstr>
      <vt:lpstr>Descriptive Analysis</vt:lpstr>
      <vt:lpstr>Descriptive Analysis</vt:lpstr>
      <vt:lpstr>Descriptive Analysis  . Age-Pyramid by Burial-Type</vt:lpstr>
      <vt:lpstr>Inference Statistics</vt:lpstr>
      <vt:lpstr>Birth Cohort</vt:lpstr>
      <vt:lpstr>Survival Curve</vt:lpstr>
      <vt:lpstr>Survival Curve by Sex</vt:lpstr>
      <vt:lpstr>Discussion</vt:lpstr>
      <vt:lpstr>Socioeconomic Status  &amp;  Survival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Dönicke</dc:creator>
  <cp:lastModifiedBy>Jasmin Dönicke</cp:lastModifiedBy>
  <cp:revision>180</cp:revision>
  <dcterms:created xsi:type="dcterms:W3CDTF">2026-03-31T09:03:58Z</dcterms:created>
  <dcterms:modified xsi:type="dcterms:W3CDTF">2026-03-31T12:55:58Z</dcterms:modified>
</cp:coreProperties>
</file>